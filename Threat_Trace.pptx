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280160"/>
            <a:ext cx="12191695" cy="0"/>
          </a:xfrm>
          <a:prstGeom prst="line">
            <a:avLst/>
          </a:prstGeom>
          <a:noFill/>
          <a:ln w="12700">
            <a:solidFill>
              <a:srgbClr val="1329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468880"/>
            <a:ext cx="12191695" cy="0"/>
          </a:xfrm>
          <a:prstGeom prst="line">
            <a:avLst/>
          </a:prstGeom>
          <a:noFill/>
          <a:ln w="12700">
            <a:solidFill>
              <a:srgbClr val="13294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657600"/>
            <a:ext cx="12191695" cy="0"/>
          </a:xfrm>
          <a:prstGeom prst="line">
            <a:avLst/>
          </a:prstGeom>
          <a:noFill/>
          <a:ln w="12700">
            <a:solidFill>
              <a:srgbClr val="1329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846320"/>
            <a:ext cx="12191695" cy="0"/>
          </a:xfrm>
          <a:prstGeom prst="line">
            <a:avLst/>
          </a:prstGeom>
          <a:noFill/>
          <a:ln w="12700">
            <a:solidFill>
              <a:srgbClr val="13294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035040"/>
            <a:ext cx="12191695" cy="0"/>
          </a:xfrm>
          <a:prstGeom prst="line">
            <a:avLst/>
          </a:prstGeom>
          <a:noFill/>
          <a:ln w="12700">
            <a:solidFill>
              <a:srgbClr val="13294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822960"/>
            <a:ext cx="822960" cy="822960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822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⛨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822960" y="21488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FORENSIC INVESTIGATION &amp; THREAT ATTRIBUTION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256032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 Trace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822960" y="3794760"/>
            <a:ext cx="8961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desktop platform that reconstructs attack timelines, fingerprints incidents, quantifies risk, and hands off attribution-ready evidence.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Programming  •  Database Management Systems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5257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Project Presentation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Trace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804672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100"/>
              </a:lnSpc>
              <a:buNone/>
            </a:pPr>
            <a:r>
              <a:rPr lang="en-US" sz="2700" b="1" dirty="0">
                <a:solidFill>
                  <a:srgbClr val="15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Investigations are fragmented — and stop too early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201168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EAF0FB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267712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2249424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endpoint logs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68680" y="2834640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Logins, process execution, file ops, network and USB events sit in disconnected sources with no unified view.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201168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EAF0FB"/>
          </a:solidFill>
          <a:ln/>
        </p:spPr>
      </p:sp>
      <p:sp>
        <p:nvSpPr>
          <p:cNvPr id="10" name="Shape 8"/>
          <p:cNvSpPr/>
          <p:nvPr/>
        </p:nvSpPr>
        <p:spPr>
          <a:xfrm>
            <a:off x="6537960" y="2267712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78040" y="2249424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attack-stage visibility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537960" y="2834640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manually infer which Cyber Kill Chain stage an event belongs to — slow and inconsistent.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" y="4142232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EAF0FB"/>
          </a:solidFill>
          <a:ln/>
        </p:spPr>
      </p:sp>
      <p:sp>
        <p:nvSpPr>
          <p:cNvPr id="15" name="Shape 13"/>
          <p:cNvSpPr/>
          <p:nvPr/>
        </p:nvSpPr>
        <p:spPr>
          <a:xfrm>
            <a:off x="868680" y="4398264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398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08760" y="4379976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response are guesswork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68680" y="4965192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Organizational risk is judged informally, and mitigation is chosen from experience, not weighed evidence.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4142232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EAF0FB"/>
          </a:solidFill>
          <a:ln/>
        </p:spPr>
      </p:sp>
      <p:sp>
        <p:nvSpPr>
          <p:cNvPr id="20" name="Shape 18"/>
          <p:cNvSpPr/>
          <p:nvPr/>
        </p:nvSpPr>
        <p:spPr>
          <a:xfrm>
            <a:off x="6537960" y="4398264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4398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178040" y="4379976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Investigations stop at containment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537960" y="4965192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 threat is contained, nothing is packaged for whoever's job is to identify who was behind it.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Trace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804672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pipeline, six stages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Trace turns raw endpoint logs into a ranked response — and an attribution-ready handoff.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40715" y="2468880"/>
            <a:ext cx="868680" cy="868680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6" name="Text 4"/>
          <p:cNvSpPr/>
          <p:nvPr/>
        </p:nvSpPr>
        <p:spPr>
          <a:xfrm>
            <a:off x="840715" y="24688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2920" y="3502152"/>
            <a:ext cx="154426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3959352"/>
            <a:ext cx="154426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endpoint logs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047189" y="272034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769032" y="2468880"/>
            <a:ext cx="868680" cy="868680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11" name="Text 9"/>
          <p:cNvSpPr/>
          <p:nvPr/>
        </p:nvSpPr>
        <p:spPr>
          <a:xfrm>
            <a:off x="2769032" y="24688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431237" y="3502152"/>
            <a:ext cx="154426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431237" y="3959352"/>
            <a:ext cx="154426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+ process lineage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975506" y="272034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697349" y="2468880"/>
            <a:ext cx="868680" cy="868680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16" name="Text 14"/>
          <p:cNvSpPr/>
          <p:nvPr/>
        </p:nvSpPr>
        <p:spPr>
          <a:xfrm>
            <a:off x="4697349" y="24688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359554" y="3502152"/>
            <a:ext cx="154426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59554" y="3959352"/>
            <a:ext cx="154426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to Kill Chain stage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03824" y="272034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625666" y="2468880"/>
            <a:ext cx="868680" cy="868680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21" name="Text 19"/>
          <p:cNvSpPr/>
          <p:nvPr/>
        </p:nvSpPr>
        <p:spPr>
          <a:xfrm>
            <a:off x="6625666" y="24688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287872" y="3502152"/>
            <a:ext cx="154426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Fingerprint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87872" y="3959352"/>
            <a:ext cx="154426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Attack DNA profile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832141" y="272034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553983" y="2468880"/>
            <a:ext cx="868680" cy="868680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26" name="Text 24"/>
          <p:cNvSpPr/>
          <p:nvPr/>
        </p:nvSpPr>
        <p:spPr>
          <a:xfrm>
            <a:off x="8553983" y="24688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8216189" y="3502152"/>
            <a:ext cx="154426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216189" y="3959352"/>
            <a:ext cx="154426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organizational risk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760458" y="272034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0482301" y="2468880"/>
            <a:ext cx="868680" cy="868680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31" name="Text 29"/>
          <p:cNvSpPr/>
          <p:nvPr/>
        </p:nvSpPr>
        <p:spPr>
          <a:xfrm>
            <a:off x="10482301" y="24688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0144506" y="3502152"/>
            <a:ext cx="154426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Advise &amp; Handoff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144506" y="3959352"/>
            <a:ext cx="154426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mitigations, export attribution package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Trace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ENGINE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804672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Attack DNA &amp; Process Lineage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5257800" cy="4434840"/>
          </a:xfrm>
          <a:prstGeom prst="roundRect">
            <a:avLst>
              <a:gd name="adj" fmla="val 1649"/>
            </a:avLst>
          </a:prstGeom>
          <a:solidFill>
            <a:srgbClr val="EAF0F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92024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DNA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4617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behavioral fingerprint built from five dimensions of an incident, compared against known threat-actor profiles.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914400" y="3017520"/>
            <a:ext cx="91440" cy="914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92608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5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 </a:t>
            </a:r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of events across the kill chain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3502152"/>
            <a:ext cx="91440" cy="914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410712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5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 </a:t>
            </a:r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fast the attack progressed stage to stage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14400" y="3986784"/>
            <a:ext cx="91440" cy="914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3895344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5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 </a:t>
            </a:r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endpoints, servers and assets touched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4400" y="4471416"/>
            <a:ext cx="91440" cy="914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4379976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5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 </a:t>
            </a:r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of activity: auth, process, file, network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4400" y="4956048"/>
            <a:ext cx="91440" cy="914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4864608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5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 </a:t>
            </a:r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endpoint → lateral spread → critical asset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562356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score against ThreatActorProfiles → closest behavioral match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72200" y="1691640"/>
            <a:ext cx="5440680" cy="4434840"/>
          </a:xfrm>
          <a:prstGeom prst="roundRect">
            <a:avLst>
              <a:gd name="adj" fmla="val 1649"/>
            </a:avLst>
          </a:prstGeom>
          <a:solidFill>
            <a:srgbClr val="0B1F3A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192024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LINEAGE RECONSTRUCTION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92240" y="228600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process spawned which — rebuilt from a self-referencing foreign key.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92240" y="2880360"/>
            <a:ext cx="4617720" cy="457200"/>
          </a:xfrm>
          <a:prstGeom prst="roundRect">
            <a:avLst>
              <a:gd name="adj" fmla="val 10000"/>
            </a:avLst>
          </a:prstGeom>
          <a:solidFill>
            <a:srgbClr val="13294B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9400" y="288036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explorer.exe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748272" y="3502152"/>
            <a:ext cx="4361688" cy="457200"/>
          </a:xfrm>
          <a:prstGeom prst="roundRect">
            <a:avLst>
              <a:gd name="adj" fmla="val 10000"/>
            </a:avLst>
          </a:prstGeom>
          <a:solidFill>
            <a:srgbClr val="13294B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85432" y="3502152"/>
            <a:ext cx="4087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winword.exe (phishing doc)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675120" y="3337560"/>
            <a:ext cx="0" cy="164592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04304" y="4123944"/>
            <a:ext cx="4105656" cy="457200"/>
          </a:xfrm>
          <a:prstGeom prst="roundRect">
            <a:avLst>
              <a:gd name="adj" fmla="val 10000"/>
            </a:avLst>
          </a:prstGeom>
          <a:solidFill>
            <a:srgbClr val="13294B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41464" y="4123944"/>
            <a:ext cx="3831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cmd.exe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931152" y="3959352"/>
            <a:ext cx="0" cy="164592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60336" y="4745736"/>
            <a:ext cx="3849624" cy="457200"/>
          </a:xfrm>
          <a:prstGeom prst="roundRect">
            <a:avLst>
              <a:gd name="adj" fmla="val 10000"/>
            </a:avLst>
          </a:prstGeom>
          <a:solidFill>
            <a:srgbClr val="13294B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97496" y="4745736"/>
            <a:ext cx="3575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powershell.exe (beacon)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187184" y="4581144"/>
            <a:ext cx="0" cy="164592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92240" y="557784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EventLogs.parent_event_id → EventLogs.event_id  (self-referencing FK, rebuilt via a recursive query)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Trace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804672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Object-Oriented Concepts Applied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EAF0FB"/>
          </a:solidFill>
          <a:ln/>
        </p:spPr>
      </p:sp>
      <p:sp>
        <p:nvSpPr>
          <p:cNvPr id="5" name="Shape 3"/>
          <p:cNvSpPr/>
          <p:nvPr/>
        </p:nvSpPr>
        <p:spPr>
          <a:xfrm>
            <a:off x="832104" y="1911096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6" name="Text 4"/>
          <p:cNvSpPr/>
          <p:nvPr/>
        </p:nvSpPr>
        <p:spPr>
          <a:xfrm>
            <a:off x="832104" y="1911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2104" y="2514600"/>
            <a:ext cx="3136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32104" y="2825496"/>
            <a:ext cx="3136392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like RiskCalculator and DatabaseManager hide internal logic behind clean, focused methods.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34840" y="169164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EAF0FB"/>
          </a:solidFill>
          <a:ln/>
        </p:spPr>
      </p:sp>
      <p:sp>
        <p:nvSpPr>
          <p:cNvPr id="10" name="Shape 8"/>
          <p:cNvSpPr/>
          <p:nvPr/>
        </p:nvSpPr>
        <p:spPr>
          <a:xfrm>
            <a:off x="4672584" y="1911096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1" name="Text 9"/>
          <p:cNvSpPr/>
          <p:nvPr/>
        </p:nvSpPr>
        <p:spPr>
          <a:xfrm>
            <a:off x="4672584" y="1911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72584" y="2514600"/>
            <a:ext cx="3136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672584" y="2825496"/>
            <a:ext cx="3136392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Process, File, Network and USB events all extend a common EventLog base class.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75320" y="169164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EAF0FB"/>
          </a:solidFill>
          <a:ln/>
        </p:spPr>
      </p:sp>
      <p:sp>
        <p:nvSpPr>
          <p:cNvPr id="15" name="Shape 13"/>
          <p:cNvSpPr/>
          <p:nvPr/>
        </p:nvSpPr>
        <p:spPr>
          <a:xfrm>
            <a:off x="8513064" y="1911096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6" name="Text 14"/>
          <p:cNvSpPr/>
          <p:nvPr/>
        </p:nvSpPr>
        <p:spPr>
          <a:xfrm>
            <a:off x="8513064" y="1911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513064" y="2514600"/>
            <a:ext cx="3136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513064" y="2825496"/>
            <a:ext cx="3136392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KillChainMapper and ReportGenerator invoke stage- or type-specific behaviour through one shared method.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4360" y="411480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EAF0FB"/>
          </a:solidFill>
          <a:ln/>
        </p:spPr>
      </p:sp>
      <p:sp>
        <p:nvSpPr>
          <p:cNvPr id="20" name="Shape 18"/>
          <p:cNvSpPr/>
          <p:nvPr/>
        </p:nvSpPr>
        <p:spPr>
          <a:xfrm>
            <a:off x="832104" y="4334256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1" name="Text 19"/>
          <p:cNvSpPr/>
          <p:nvPr/>
        </p:nvSpPr>
        <p:spPr>
          <a:xfrm>
            <a:off x="832104" y="4334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32104" y="4937760"/>
            <a:ext cx="3136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 &amp; Recursion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32104" y="5248656"/>
            <a:ext cx="3136392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InvestigationCase is composed of Assets and EventLogs; ProcessNode recursively holds its child processes.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34840" y="411480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EAF0FB"/>
          </a:solidFill>
          <a:ln/>
        </p:spPr>
      </p:sp>
      <p:sp>
        <p:nvSpPr>
          <p:cNvPr id="25" name="Shape 23"/>
          <p:cNvSpPr/>
          <p:nvPr/>
        </p:nvSpPr>
        <p:spPr>
          <a:xfrm>
            <a:off x="4672584" y="4334256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6" name="Text 24"/>
          <p:cNvSpPr/>
          <p:nvPr/>
        </p:nvSpPr>
        <p:spPr>
          <a:xfrm>
            <a:off x="4672584" y="4334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672584" y="4937760"/>
            <a:ext cx="3136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Pattern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672584" y="5248656"/>
            <a:ext cx="3136392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MitigationAdvisor swaps prioritization strategy — risk reduction vs. effort vs. business impact — at runtime.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275320" y="411480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EAF0FB"/>
          </a:solidFill>
          <a:ln/>
        </p:spPr>
      </p:sp>
      <p:sp>
        <p:nvSpPr>
          <p:cNvPr id="30" name="Shape 28"/>
          <p:cNvSpPr/>
          <p:nvPr/>
        </p:nvSpPr>
        <p:spPr>
          <a:xfrm>
            <a:off x="8513064" y="4334256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31" name="Text 29"/>
          <p:cNvSpPr/>
          <p:nvPr/>
        </p:nvSpPr>
        <p:spPr>
          <a:xfrm>
            <a:off x="8513064" y="4334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513064" y="4937760"/>
            <a:ext cx="3136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 Pattern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513064" y="5248656"/>
            <a:ext cx="3136392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RiskCalculator observes incoming events and recalculates automatically, making risk genuinely adaptive.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Trace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804672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Classes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2697480" cy="4709160"/>
          </a:xfrm>
          <a:prstGeom prst="roundRect">
            <a:avLst>
              <a:gd name="adj" fmla="val 2712"/>
            </a:avLst>
          </a:prstGeom>
          <a:solidFill>
            <a:srgbClr val="0B1F3A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1600200"/>
            <a:ext cx="2697480" cy="658368"/>
          </a:xfrm>
          <a:prstGeom prst="roundRect">
            <a:avLst>
              <a:gd name="adj" fmla="val 11111"/>
            </a:avLst>
          </a:prstGeom>
          <a:solidFill>
            <a:srgbClr val="13294B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929384"/>
            <a:ext cx="2697480" cy="329184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7" name="Text 5"/>
          <p:cNvSpPr/>
          <p:nvPr/>
        </p:nvSpPr>
        <p:spPr>
          <a:xfrm>
            <a:off x="740664" y="1600200"/>
            <a:ext cx="24048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Entities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58952" y="2514600"/>
            <a:ext cx="82296" cy="822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941832" y="2423160"/>
            <a:ext cx="2185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58952" y="3172968"/>
            <a:ext cx="82296" cy="822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941832" y="3081528"/>
            <a:ext cx="2185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58952" y="3831336"/>
            <a:ext cx="82296" cy="822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941832" y="3739896"/>
            <a:ext cx="2185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EndpointDevice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58952" y="4489704"/>
            <a:ext cx="82296" cy="822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941832" y="4398264"/>
            <a:ext cx="2185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InvestigationCase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520440" y="1600200"/>
            <a:ext cx="2697480" cy="4709160"/>
          </a:xfrm>
          <a:prstGeom prst="roundRect">
            <a:avLst>
              <a:gd name="adj" fmla="val 2712"/>
            </a:avLst>
          </a:prstGeom>
          <a:solidFill>
            <a:srgbClr val="0B1F3A"/>
          </a:solidFill>
          <a:ln/>
        </p:spPr>
      </p:sp>
      <p:sp>
        <p:nvSpPr>
          <p:cNvPr id="17" name="Shape 15"/>
          <p:cNvSpPr/>
          <p:nvPr/>
        </p:nvSpPr>
        <p:spPr>
          <a:xfrm>
            <a:off x="3520440" y="1600200"/>
            <a:ext cx="2697480" cy="658368"/>
          </a:xfrm>
          <a:prstGeom prst="roundRect">
            <a:avLst>
              <a:gd name="adj" fmla="val 11111"/>
            </a:avLst>
          </a:prstGeom>
          <a:solidFill>
            <a:srgbClr val="13294B"/>
          </a:solidFill>
          <a:ln/>
        </p:spPr>
      </p:sp>
      <p:sp>
        <p:nvSpPr>
          <p:cNvPr id="18" name="Shape 16"/>
          <p:cNvSpPr/>
          <p:nvPr/>
        </p:nvSpPr>
        <p:spPr>
          <a:xfrm>
            <a:off x="3520440" y="1929384"/>
            <a:ext cx="2697480" cy="329184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19" name="Text 17"/>
          <p:cNvSpPr/>
          <p:nvPr/>
        </p:nvSpPr>
        <p:spPr>
          <a:xfrm>
            <a:off x="3666744" y="1600200"/>
            <a:ext cx="24048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&amp; Reconstruction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685032" y="2514600"/>
            <a:ext cx="82296" cy="822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1" name="Text 19"/>
          <p:cNvSpPr/>
          <p:nvPr/>
        </p:nvSpPr>
        <p:spPr>
          <a:xfrm>
            <a:off x="3867912" y="2423160"/>
            <a:ext cx="2185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EventCollector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685032" y="3172968"/>
            <a:ext cx="82296" cy="822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3" name="Text 21"/>
          <p:cNvSpPr/>
          <p:nvPr/>
        </p:nvSpPr>
        <p:spPr>
          <a:xfrm>
            <a:off x="3867912" y="3081528"/>
            <a:ext cx="2185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EventCorrelator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685032" y="3831336"/>
            <a:ext cx="82296" cy="822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5" name="Text 23"/>
          <p:cNvSpPr/>
          <p:nvPr/>
        </p:nvSpPr>
        <p:spPr>
          <a:xfrm>
            <a:off x="3867912" y="3739896"/>
            <a:ext cx="2185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ProcessLineageBuilder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685032" y="4489704"/>
            <a:ext cx="82296" cy="822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7" name="Text 25"/>
          <p:cNvSpPr/>
          <p:nvPr/>
        </p:nvSpPr>
        <p:spPr>
          <a:xfrm>
            <a:off x="3867912" y="4398264"/>
            <a:ext cx="2185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TimelineBuilder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685032" y="5148072"/>
            <a:ext cx="82296" cy="822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9" name="Text 27"/>
          <p:cNvSpPr/>
          <p:nvPr/>
        </p:nvSpPr>
        <p:spPr>
          <a:xfrm>
            <a:off x="3867912" y="5056632"/>
            <a:ext cx="2185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PlaybackController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446520" y="1600200"/>
            <a:ext cx="2697480" cy="4709160"/>
          </a:xfrm>
          <a:prstGeom prst="roundRect">
            <a:avLst>
              <a:gd name="adj" fmla="val 2712"/>
            </a:avLst>
          </a:prstGeom>
          <a:solidFill>
            <a:srgbClr val="0B1F3A"/>
          </a:solidFill>
          <a:ln/>
        </p:spPr>
      </p:sp>
      <p:sp>
        <p:nvSpPr>
          <p:cNvPr id="31" name="Shape 29"/>
          <p:cNvSpPr/>
          <p:nvPr/>
        </p:nvSpPr>
        <p:spPr>
          <a:xfrm>
            <a:off x="6446520" y="1600200"/>
            <a:ext cx="2697480" cy="658368"/>
          </a:xfrm>
          <a:prstGeom prst="roundRect">
            <a:avLst>
              <a:gd name="adj" fmla="val 11111"/>
            </a:avLst>
          </a:prstGeom>
          <a:solidFill>
            <a:srgbClr val="13294B"/>
          </a:solidFill>
          <a:ln/>
        </p:spPr>
      </p:sp>
      <p:sp>
        <p:nvSpPr>
          <p:cNvPr id="32" name="Shape 30"/>
          <p:cNvSpPr/>
          <p:nvPr/>
        </p:nvSpPr>
        <p:spPr>
          <a:xfrm>
            <a:off x="6446520" y="1929384"/>
            <a:ext cx="2697480" cy="329184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33" name="Text 31"/>
          <p:cNvSpPr/>
          <p:nvPr/>
        </p:nvSpPr>
        <p:spPr>
          <a:xfrm>
            <a:off x="6592824" y="1600200"/>
            <a:ext cx="24048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Engine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611112" y="2514600"/>
            <a:ext cx="82296" cy="822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5" name="Text 33"/>
          <p:cNvSpPr/>
          <p:nvPr/>
        </p:nvSpPr>
        <p:spPr>
          <a:xfrm>
            <a:off x="6793992" y="2423160"/>
            <a:ext cx="2185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KillChainMapper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611112" y="3172968"/>
            <a:ext cx="82296" cy="822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7" name="Text 35"/>
          <p:cNvSpPr/>
          <p:nvPr/>
        </p:nvSpPr>
        <p:spPr>
          <a:xfrm>
            <a:off x="6793992" y="3081528"/>
            <a:ext cx="2185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AttackDNAAnalyzer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611112" y="3831336"/>
            <a:ext cx="82296" cy="822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9" name="Text 37"/>
          <p:cNvSpPr/>
          <p:nvPr/>
        </p:nvSpPr>
        <p:spPr>
          <a:xfrm>
            <a:off x="6793992" y="3739896"/>
            <a:ext cx="2185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RiskCalculator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611112" y="4489704"/>
            <a:ext cx="82296" cy="822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41" name="Text 39"/>
          <p:cNvSpPr/>
          <p:nvPr/>
        </p:nvSpPr>
        <p:spPr>
          <a:xfrm>
            <a:off x="6793992" y="4398264"/>
            <a:ext cx="2185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MitigationAdvisor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9372600" y="1600200"/>
            <a:ext cx="2697480" cy="4709160"/>
          </a:xfrm>
          <a:prstGeom prst="roundRect">
            <a:avLst>
              <a:gd name="adj" fmla="val 2712"/>
            </a:avLst>
          </a:prstGeom>
          <a:solidFill>
            <a:srgbClr val="0B1F3A"/>
          </a:solidFill>
          <a:ln/>
        </p:spPr>
      </p:sp>
      <p:sp>
        <p:nvSpPr>
          <p:cNvPr id="43" name="Shape 41"/>
          <p:cNvSpPr/>
          <p:nvPr/>
        </p:nvSpPr>
        <p:spPr>
          <a:xfrm>
            <a:off x="9372600" y="1600200"/>
            <a:ext cx="2697480" cy="658368"/>
          </a:xfrm>
          <a:prstGeom prst="roundRect">
            <a:avLst>
              <a:gd name="adj" fmla="val 11111"/>
            </a:avLst>
          </a:prstGeom>
          <a:solidFill>
            <a:srgbClr val="13294B"/>
          </a:solidFill>
          <a:ln/>
        </p:spPr>
      </p:sp>
      <p:sp>
        <p:nvSpPr>
          <p:cNvPr id="44" name="Shape 42"/>
          <p:cNvSpPr/>
          <p:nvPr/>
        </p:nvSpPr>
        <p:spPr>
          <a:xfrm>
            <a:off x="9372600" y="1929384"/>
            <a:ext cx="2697480" cy="329184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45" name="Text 43"/>
          <p:cNvSpPr/>
          <p:nvPr/>
        </p:nvSpPr>
        <p:spPr>
          <a:xfrm>
            <a:off x="9518904" y="1600200"/>
            <a:ext cx="24048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&amp; Reporting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9537192" y="2514600"/>
            <a:ext cx="82296" cy="822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47" name="Text 45"/>
          <p:cNvSpPr/>
          <p:nvPr/>
        </p:nvSpPr>
        <p:spPr>
          <a:xfrm>
            <a:off x="9720072" y="2423160"/>
            <a:ext cx="2185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DatabaseManager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9537192" y="3172968"/>
            <a:ext cx="82296" cy="822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49" name="Text 47"/>
          <p:cNvSpPr/>
          <p:nvPr/>
        </p:nvSpPr>
        <p:spPr>
          <a:xfrm>
            <a:off x="9720072" y="3081528"/>
            <a:ext cx="2185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ReportGenerator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9537192" y="3831336"/>
            <a:ext cx="82296" cy="822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51" name="Text 49"/>
          <p:cNvSpPr/>
          <p:nvPr/>
        </p:nvSpPr>
        <p:spPr>
          <a:xfrm>
            <a:off x="9720072" y="3739896"/>
            <a:ext cx="2185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AttributionPackageExporter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Trace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804672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Concepts Applied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EAF0FB"/>
          </a:solidFill>
          <a:ln/>
        </p:spPr>
      </p:sp>
      <p:sp>
        <p:nvSpPr>
          <p:cNvPr id="5" name="Shape 3"/>
          <p:cNvSpPr/>
          <p:nvPr/>
        </p:nvSpPr>
        <p:spPr>
          <a:xfrm>
            <a:off x="832104" y="1911096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6" name="Text 4"/>
          <p:cNvSpPr/>
          <p:nvPr/>
        </p:nvSpPr>
        <p:spPr>
          <a:xfrm>
            <a:off x="832104" y="1911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2104" y="2514600"/>
            <a:ext cx="3136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&amp; Relationships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32104" y="2825496"/>
            <a:ext cx="3136392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and foreign keys connect 11 tables, keeping cases, devices, and events consistent.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34840" y="169164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EAF0FB"/>
          </a:solidFill>
          <a:ln/>
        </p:spPr>
      </p:sp>
      <p:sp>
        <p:nvSpPr>
          <p:cNvPr id="10" name="Shape 8"/>
          <p:cNvSpPr/>
          <p:nvPr/>
        </p:nvSpPr>
        <p:spPr>
          <a:xfrm>
            <a:off x="4672584" y="1911096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1" name="Text 9"/>
          <p:cNvSpPr/>
          <p:nvPr/>
        </p:nvSpPr>
        <p:spPr>
          <a:xfrm>
            <a:off x="4672584" y="1911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72584" y="2514600"/>
            <a:ext cx="3136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Self-Referencing FK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672584" y="2825496"/>
            <a:ext cx="3136392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EventLogs.parent_event_id points back to EventLogs.event_id — one process referencing the one that spawned it.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75320" y="169164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EAF0FB"/>
          </a:solidFill>
          <a:ln/>
        </p:spPr>
      </p:sp>
      <p:sp>
        <p:nvSpPr>
          <p:cNvPr id="15" name="Shape 13"/>
          <p:cNvSpPr/>
          <p:nvPr/>
        </p:nvSpPr>
        <p:spPr>
          <a:xfrm>
            <a:off x="8513064" y="1911096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6" name="Text 14"/>
          <p:cNvSpPr/>
          <p:nvPr/>
        </p:nvSpPr>
        <p:spPr>
          <a:xfrm>
            <a:off x="8513064" y="1911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513064" y="2514600"/>
            <a:ext cx="3136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Query (CTE)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513064" y="2825496"/>
            <a:ext cx="3136392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WITH RECURSIVE query walks that self-reference to rebuild a full process ancestry in one pass.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4360" y="411480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EAF0FB"/>
          </a:solidFill>
          <a:ln/>
        </p:spPr>
      </p:sp>
      <p:sp>
        <p:nvSpPr>
          <p:cNvPr id="20" name="Shape 18"/>
          <p:cNvSpPr/>
          <p:nvPr/>
        </p:nvSpPr>
        <p:spPr>
          <a:xfrm>
            <a:off x="832104" y="4334256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1" name="Text 19"/>
          <p:cNvSpPr/>
          <p:nvPr/>
        </p:nvSpPr>
        <p:spPr>
          <a:xfrm>
            <a:off x="832104" y="4334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32104" y="4937760"/>
            <a:ext cx="3136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&amp; Aggregation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32104" y="5248656"/>
            <a:ext cx="3136392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dashboard, Attack DNA fingerprint, and attribution package are all assembled via multi-table joins.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34840" y="411480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EAF0FB"/>
          </a:solidFill>
          <a:ln/>
        </p:spPr>
      </p:sp>
      <p:sp>
        <p:nvSpPr>
          <p:cNvPr id="25" name="Shape 23"/>
          <p:cNvSpPr/>
          <p:nvPr/>
        </p:nvSpPr>
        <p:spPr>
          <a:xfrm>
            <a:off x="4672584" y="4334256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6" name="Text 24"/>
          <p:cNvSpPr/>
          <p:nvPr/>
        </p:nvSpPr>
        <p:spPr>
          <a:xfrm>
            <a:off x="4672584" y="4334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672584" y="4937760"/>
            <a:ext cx="3136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(3NF)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672584" y="5248656"/>
            <a:ext cx="3136392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like Asset and EndpointDevice are stored once and referenced, never duplicated.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275320" y="411480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EAF0FB"/>
          </a:solidFill>
          <a:ln/>
        </p:spPr>
      </p:sp>
      <p:sp>
        <p:nvSpPr>
          <p:cNvPr id="30" name="Shape 28"/>
          <p:cNvSpPr/>
          <p:nvPr/>
        </p:nvSpPr>
        <p:spPr>
          <a:xfrm>
            <a:off x="8513064" y="4334256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31" name="Text 29"/>
          <p:cNvSpPr/>
          <p:nvPr/>
        </p:nvSpPr>
        <p:spPr>
          <a:xfrm>
            <a:off x="8513064" y="4334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513064" y="4937760"/>
            <a:ext cx="3136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 &amp; Transactions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513064" y="5248656"/>
            <a:ext cx="3136392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 on case_id and parent_event_id keep lookups fast; multi-table writes commit atomically.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Trace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804672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Tables (SQLite / MySQL)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2645588" cy="1417320"/>
          </a:xfrm>
          <a:prstGeom prst="roundRect">
            <a:avLst>
              <a:gd name="adj" fmla="val 4516"/>
            </a:avLst>
          </a:prstGeom>
          <a:solidFill>
            <a:srgbClr val="EAF0F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728216"/>
            <a:ext cx="22798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5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2377440"/>
            <a:ext cx="22798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accounts and access roles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349676" y="1600200"/>
            <a:ext cx="2645588" cy="1417320"/>
          </a:xfrm>
          <a:prstGeom prst="roundRect">
            <a:avLst>
              <a:gd name="adj" fmla="val 4516"/>
            </a:avLst>
          </a:prstGeom>
          <a:solidFill>
            <a:srgbClr val="EAF0FB"/>
          </a:solidFill>
          <a:ln/>
        </p:spPr>
      </p:sp>
      <p:sp>
        <p:nvSpPr>
          <p:cNvPr id="8" name="Text 6"/>
          <p:cNvSpPr/>
          <p:nvPr/>
        </p:nvSpPr>
        <p:spPr>
          <a:xfrm>
            <a:off x="3532556" y="1728216"/>
            <a:ext cx="22798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5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Assets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532556" y="2377440"/>
            <a:ext cx="22798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Organizational assets and criticality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96432" y="1600200"/>
            <a:ext cx="2645588" cy="1417320"/>
          </a:xfrm>
          <a:prstGeom prst="roundRect">
            <a:avLst>
              <a:gd name="adj" fmla="val 4516"/>
            </a:avLst>
          </a:prstGeom>
          <a:solidFill>
            <a:srgbClr val="EAF0FB"/>
          </a:solidFill>
          <a:ln/>
        </p:spPr>
      </p:sp>
      <p:sp>
        <p:nvSpPr>
          <p:cNvPr id="11" name="Text 9"/>
          <p:cNvSpPr/>
          <p:nvPr/>
        </p:nvSpPr>
        <p:spPr>
          <a:xfrm>
            <a:off x="6379312" y="1728216"/>
            <a:ext cx="22798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5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EndpointDevices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379312" y="2377440"/>
            <a:ext cx="22798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Monitored endpoints and hosts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043187" y="1600200"/>
            <a:ext cx="2645588" cy="1417320"/>
          </a:xfrm>
          <a:prstGeom prst="roundRect">
            <a:avLst>
              <a:gd name="adj" fmla="val 4516"/>
            </a:avLst>
          </a:prstGeom>
          <a:solidFill>
            <a:srgbClr val="EAF0FB"/>
          </a:solidFill>
          <a:ln/>
        </p:spPr>
      </p:sp>
      <p:sp>
        <p:nvSpPr>
          <p:cNvPr id="14" name="Text 12"/>
          <p:cNvSpPr/>
          <p:nvPr/>
        </p:nvSpPr>
        <p:spPr>
          <a:xfrm>
            <a:off x="9226067" y="1728216"/>
            <a:ext cx="22798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5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InvestigationCases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226067" y="2377440"/>
            <a:ext cx="22798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metadata and status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3246120"/>
            <a:ext cx="2645588" cy="1417320"/>
          </a:xfrm>
          <a:prstGeom prst="roundRect">
            <a:avLst>
              <a:gd name="adj" fmla="val 4516"/>
            </a:avLst>
          </a:prstGeom>
          <a:solidFill>
            <a:srgbClr val="EAF0FB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374136"/>
            <a:ext cx="22798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5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EventLogs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85800" y="4023360"/>
            <a:ext cx="22798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events, incl. parent_event_id self-FK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349676" y="3246120"/>
            <a:ext cx="2645588" cy="1417320"/>
          </a:xfrm>
          <a:prstGeom prst="roundRect">
            <a:avLst>
              <a:gd name="adj" fmla="val 4516"/>
            </a:avLst>
          </a:prstGeom>
          <a:solidFill>
            <a:srgbClr val="EAF0FB"/>
          </a:solidFill>
          <a:ln/>
        </p:spPr>
      </p:sp>
      <p:sp>
        <p:nvSpPr>
          <p:cNvPr id="20" name="Text 18"/>
          <p:cNvSpPr/>
          <p:nvPr/>
        </p:nvSpPr>
        <p:spPr>
          <a:xfrm>
            <a:off x="3532556" y="3374136"/>
            <a:ext cx="22798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5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KillChainStages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3532556" y="4023360"/>
            <a:ext cx="22798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7 kill-chain stage classifications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96432" y="3246120"/>
            <a:ext cx="2645588" cy="1417320"/>
          </a:xfrm>
          <a:prstGeom prst="roundRect">
            <a:avLst>
              <a:gd name="adj" fmla="val 4516"/>
            </a:avLst>
          </a:prstGeom>
          <a:solidFill>
            <a:srgbClr val="EAF0FB"/>
          </a:solidFill>
          <a:ln/>
        </p:spPr>
      </p:sp>
      <p:sp>
        <p:nvSpPr>
          <p:cNvPr id="23" name="Text 21"/>
          <p:cNvSpPr/>
          <p:nvPr/>
        </p:nvSpPr>
        <p:spPr>
          <a:xfrm>
            <a:off x="6379312" y="3374136"/>
            <a:ext cx="22798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5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AttackPatterns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379312" y="4023360"/>
            <a:ext cx="22798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patterns used for matching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043187" y="3246120"/>
            <a:ext cx="2645588" cy="1417320"/>
          </a:xfrm>
          <a:prstGeom prst="roundRect">
            <a:avLst>
              <a:gd name="adj" fmla="val 4516"/>
            </a:avLst>
          </a:prstGeom>
          <a:solidFill>
            <a:srgbClr val="EAF0FB"/>
          </a:solidFill>
          <a:ln/>
        </p:spPr>
      </p:sp>
      <p:sp>
        <p:nvSpPr>
          <p:cNvPr id="26" name="Text 24"/>
          <p:cNvSpPr/>
          <p:nvPr/>
        </p:nvSpPr>
        <p:spPr>
          <a:xfrm>
            <a:off x="9226067" y="3374136"/>
            <a:ext cx="22798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5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ThreatActorProfiles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9226067" y="4023360"/>
            <a:ext cx="22798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TTP / DNA signatures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2920" y="4892040"/>
            <a:ext cx="2645588" cy="1417320"/>
          </a:xfrm>
          <a:prstGeom prst="roundRect">
            <a:avLst>
              <a:gd name="adj" fmla="val 4516"/>
            </a:avLst>
          </a:prstGeom>
          <a:solidFill>
            <a:srgbClr val="EAF0FB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" y="5020056"/>
            <a:ext cx="22798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5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RiskAssessments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685800" y="5669280"/>
            <a:ext cx="22798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risk scores over time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349676" y="4892040"/>
            <a:ext cx="2645588" cy="1417320"/>
          </a:xfrm>
          <a:prstGeom prst="roundRect">
            <a:avLst>
              <a:gd name="adj" fmla="val 4516"/>
            </a:avLst>
          </a:prstGeom>
          <a:solidFill>
            <a:srgbClr val="EAF0FB"/>
          </a:solidFill>
          <a:ln/>
        </p:spPr>
      </p:sp>
      <p:sp>
        <p:nvSpPr>
          <p:cNvPr id="32" name="Text 30"/>
          <p:cNvSpPr/>
          <p:nvPr/>
        </p:nvSpPr>
        <p:spPr>
          <a:xfrm>
            <a:off x="3532556" y="5020056"/>
            <a:ext cx="22798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5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MitigationStrategies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3532556" y="5669280"/>
            <a:ext cx="22798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actions and priority scores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96432" y="4892040"/>
            <a:ext cx="2645588" cy="1417320"/>
          </a:xfrm>
          <a:prstGeom prst="roundRect">
            <a:avLst>
              <a:gd name="adj" fmla="val 4516"/>
            </a:avLst>
          </a:prstGeom>
          <a:solidFill>
            <a:srgbClr val="EAF0FB"/>
          </a:solidFill>
          <a:ln/>
        </p:spPr>
      </p:sp>
      <p:sp>
        <p:nvSpPr>
          <p:cNvPr id="35" name="Text 33"/>
          <p:cNvSpPr/>
          <p:nvPr/>
        </p:nvSpPr>
        <p:spPr>
          <a:xfrm>
            <a:off x="6379312" y="5020056"/>
            <a:ext cx="22798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5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Reports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6379312" y="5669280"/>
            <a:ext cx="22798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Forensic reports &amp; attribution packages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Trace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804672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5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Entity-Relationship Diagram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874520" cy="1280160"/>
          </a:xfrm>
          <a:prstGeom prst="roundRect">
            <a:avLst>
              <a:gd name="adj" fmla="val 4286"/>
            </a:avLst>
          </a:prstGeom>
          <a:solidFill>
            <a:srgbClr val="0B1F3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08760"/>
            <a:ext cx="1874520" cy="310896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6" name="Text 4"/>
          <p:cNvSpPr/>
          <p:nvPr/>
        </p:nvSpPr>
        <p:spPr>
          <a:xfrm>
            <a:off x="512064" y="1508760"/>
            <a:ext cx="17647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169164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user_id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606040" y="1508760"/>
            <a:ext cx="2057400" cy="1280160"/>
          </a:xfrm>
          <a:prstGeom prst="roundRect">
            <a:avLst>
              <a:gd name="adj" fmla="val 4286"/>
            </a:avLst>
          </a:prstGeom>
          <a:solidFill>
            <a:srgbClr val="0B1F3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06040" y="1508760"/>
            <a:ext cx="2057400" cy="310896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10" name="Text 8"/>
          <p:cNvSpPr/>
          <p:nvPr/>
        </p:nvSpPr>
        <p:spPr>
          <a:xfrm>
            <a:off x="2660904" y="1508760"/>
            <a:ext cx="1947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INVESTIGATIONCASE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697480" y="1874520"/>
            <a:ext cx="187452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case_id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user_id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status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937760" y="1508760"/>
            <a:ext cx="1874520" cy="1280160"/>
          </a:xfrm>
          <a:prstGeom prst="roundRect">
            <a:avLst>
              <a:gd name="adj" fmla="val 4286"/>
            </a:avLst>
          </a:prstGeom>
          <a:solidFill>
            <a:srgbClr val="0B1F3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37760" y="1508760"/>
            <a:ext cx="1874520" cy="310896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14" name="Text 12"/>
          <p:cNvSpPr/>
          <p:nvPr/>
        </p:nvSpPr>
        <p:spPr>
          <a:xfrm>
            <a:off x="4992624" y="1508760"/>
            <a:ext cx="17647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0" y="1874520"/>
            <a:ext cx="169164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asset_id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criticality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086600" y="1508760"/>
            <a:ext cx="2057400" cy="1280160"/>
          </a:xfrm>
          <a:prstGeom prst="roundRect">
            <a:avLst>
              <a:gd name="adj" fmla="val 4286"/>
            </a:avLst>
          </a:prstGeom>
          <a:solidFill>
            <a:srgbClr val="0B1F3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86600" y="1508760"/>
            <a:ext cx="2057400" cy="310896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18" name="Text 16"/>
          <p:cNvSpPr/>
          <p:nvPr/>
        </p:nvSpPr>
        <p:spPr>
          <a:xfrm>
            <a:off x="7141464" y="1508760"/>
            <a:ext cx="1947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ENDPOINTDEVICE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178040" y="1874520"/>
            <a:ext cx="187452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device_id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asset_id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hostname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9418320" y="1508760"/>
            <a:ext cx="2286000" cy="1280160"/>
          </a:xfrm>
          <a:prstGeom prst="roundRect">
            <a:avLst>
              <a:gd name="adj" fmla="val 4286"/>
            </a:avLst>
          </a:prstGeom>
          <a:solidFill>
            <a:srgbClr val="0B1F3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18320" y="1508760"/>
            <a:ext cx="2286000" cy="310896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22" name="Text 20"/>
          <p:cNvSpPr/>
          <p:nvPr/>
        </p:nvSpPr>
        <p:spPr>
          <a:xfrm>
            <a:off x="9473184" y="1508760"/>
            <a:ext cx="21762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EVENTLOG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509760" y="1874520"/>
            <a:ext cx="210312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event_id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case_id, device_id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parent_event_id (self)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606040" y="3108960"/>
            <a:ext cx="2057400" cy="1280160"/>
          </a:xfrm>
          <a:prstGeom prst="roundRect">
            <a:avLst>
              <a:gd name="adj" fmla="val 4286"/>
            </a:avLst>
          </a:prstGeom>
          <a:solidFill>
            <a:srgbClr val="0B1F3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06040" y="3108960"/>
            <a:ext cx="2057400" cy="310896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26" name="Text 24"/>
          <p:cNvSpPr/>
          <p:nvPr/>
        </p:nvSpPr>
        <p:spPr>
          <a:xfrm>
            <a:off x="2660904" y="3108960"/>
            <a:ext cx="1947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KILLCHAINSTAGE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697480" y="3474720"/>
            <a:ext cx="187452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stage_id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event_id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stage_name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937760" y="3108960"/>
            <a:ext cx="1874520" cy="1280160"/>
          </a:xfrm>
          <a:prstGeom prst="roundRect">
            <a:avLst>
              <a:gd name="adj" fmla="val 4286"/>
            </a:avLst>
          </a:prstGeom>
          <a:solidFill>
            <a:srgbClr val="0B1F3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937760" y="3108960"/>
            <a:ext cx="1874520" cy="310896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30" name="Text 28"/>
          <p:cNvSpPr/>
          <p:nvPr/>
        </p:nvSpPr>
        <p:spPr>
          <a:xfrm>
            <a:off x="4992624" y="3108960"/>
            <a:ext cx="17647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ATTACKPATTERN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029200" y="3474720"/>
            <a:ext cx="169164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pattern_id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event_id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pattern_name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086600" y="3108960"/>
            <a:ext cx="2057400" cy="1280160"/>
          </a:xfrm>
          <a:prstGeom prst="roundRect">
            <a:avLst>
              <a:gd name="adj" fmla="val 4286"/>
            </a:avLst>
          </a:prstGeom>
          <a:solidFill>
            <a:srgbClr val="0B1F3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086600" y="3108960"/>
            <a:ext cx="2057400" cy="310896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34" name="Text 32"/>
          <p:cNvSpPr/>
          <p:nvPr/>
        </p:nvSpPr>
        <p:spPr>
          <a:xfrm>
            <a:off x="7141464" y="3108960"/>
            <a:ext cx="1947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RISKASSESSMENT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178040" y="3474720"/>
            <a:ext cx="187452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risk_id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case_id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risk_score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9418320" y="3108960"/>
            <a:ext cx="2286000" cy="1280160"/>
          </a:xfrm>
          <a:prstGeom prst="roundRect">
            <a:avLst>
              <a:gd name="adj" fmla="val 4286"/>
            </a:avLst>
          </a:prstGeom>
          <a:solidFill>
            <a:srgbClr val="0B1F3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418320" y="3108960"/>
            <a:ext cx="2286000" cy="310896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38" name="Text 36"/>
          <p:cNvSpPr/>
          <p:nvPr/>
        </p:nvSpPr>
        <p:spPr>
          <a:xfrm>
            <a:off x="9473184" y="3108960"/>
            <a:ext cx="21762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9509760" y="3474720"/>
            <a:ext cx="210312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report_id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case_id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report_type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794760" y="4709160"/>
            <a:ext cx="2331720" cy="1280160"/>
          </a:xfrm>
          <a:prstGeom prst="roundRect">
            <a:avLst>
              <a:gd name="adj" fmla="val 4286"/>
            </a:avLst>
          </a:prstGeom>
          <a:solidFill>
            <a:srgbClr val="0B1F3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94760" y="4709160"/>
            <a:ext cx="2331720" cy="310896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42" name="Text 40"/>
          <p:cNvSpPr/>
          <p:nvPr/>
        </p:nvSpPr>
        <p:spPr>
          <a:xfrm>
            <a:off x="3849624" y="4709160"/>
            <a:ext cx="22219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THREATACTORPROFILE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3886200" y="5074920"/>
            <a:ext cx="214884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profile_id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actor_name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dna_signature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537960" y="4709160"/>
            <a:ext cx="2331720" cy="1280160"/>
          </a:xfrm>
          <a:prstGeom prst="roundRect">
            <a:avLst>
              <a:gd name="adj" fmla="val 4286"/>
            </a:avLst>
          </a:prstGeom>
          <a:solidFill>
            <a:srgbClr val="0B1F3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537960" y="4709160"/>
            <a:ext cx="2331720" cy="310896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46" name="Text 44"/>
          <p:cNvSpPr/>
          <p:nvPr/>
        </p:nvSpPr>
        <p:spPr>
          <a:xfrm>
            <a:off x="6592824" y="4709160"/>
            <a:ext cx="22219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MITIGATIONSTRATEGY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629400" y="5074920"/>
            <a:ext cx="214884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strategy_id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risk_id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action, priority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2331720" y="2148840"/>
            <a:ext cx="274320" cy="0"/>
          </a:xfrm>
          <a:prstGeom prst="line">
            <a:avLst/>
          </a:prstGeom>
          <a:noFill/>
          <a:ln w="13970">
            <a:solidFill>
              <a:srgbClr val="5B6B8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176272" y="2029968"/>
            <a:ext cx="585216" cy="20116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4663440" y="2148840"/>
            <a:ext cx="274320" cy="0"/>
          </a:xfrm>
          <a:prstGeom prst="line">
            <a:avLst/>
          </a:prstGeom>
          <a:noFill/>
          <a:ln w="13970">
            <a:solidFill>
              <a:srgbClr val="5B6B8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07992" y="2029968"/>
            <a:ext cx="585216" cy="20116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6812280" y="2148840"/>
            <a:ext cx="274320" cy="0"/>
          </a:xfrm>
          <a:prstGeom prst="line">
            <a:avLst/>
          </a:prstGeom>
          <a:noFill/>
          <a:ln w="13970">
            <a:solidFill>
              <a:srgbClr val="5B6B8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656832" y="2029968"/>
            <a:ext cx="585216" cy="20116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9144000" y="2148840"/>
            <a:ext cx="274320" cy="0"/>
          </a:xfrm>
          <a:prstGeom prst="line">
            <a:avLst/>
          </a:prstGeom>
          <a:noFill/>
          <a:ln w="13970">
            <a:solidFill>
              <a:srgbClr val="5B6B8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988552" y="2029968"/>
            <a:ext cx="585216" cy="20116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11521440" y="1344168"/>
            <a:ext cx="329184" cy="329184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57" name="Text 55"/>
          <p:cNvSpPr/>
          <p:nvPr/>
        </p:nvSpPr>
        <p:spPr>
          <a:xfrm>
            <a:off x="11521440" y="13441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↻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3630168" y="2788920"/>
            <a:ext cx="0" cy="320040"/>
          </a:xfrm>
          <a:prstGeom prst="line">
            <a:avLst/>
          </a:prstGeom>
          <a:noFill/>
          <a:ln w="13970">
            <a:solidFill>
              <a:srgbClr val="5B6B8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337560" y="2830068"/>
            <a:ext cx="585216" cy="20116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5870448" y="2788920"/>
            <a:ext cx="0" cy="320040"/>
          </a:xfrm>
          <a:prstGeom prst="line">
            <a:avLst/>
          </a:prstGeom>
          <a:noFill/>
          <a:ln w="13970">
            <a:solidFill>
              <a:srgbClr val="5B6B8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577840" y="2830068"/>
            <a:ext cx="585216" cy="20116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8110728" y="2788920"/>
            <a:ext cx="0" cy="320040"/>
          </a:xfrm>
          <a:prstGeom prst="line">
            <a:avLst/>
          </a:prstGeom>
          <a:noFill/>
          <a:ln w="13970">
            <a:solidFill>
              <a:srgbClr val="5B6B8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818120" y="2830068"/>
            <a:ext cx="585216" cy="20116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10561320" y="2788920"/>
            <a:ext cx="0" cy="320040"/>
          </a:xfrm>
          <a:prstGeom prst="line">
            <a:avLst/>
          </a:prstGeom>
          <a:noFill/>
          <a:ln w="13970">
            <a:solidFill>
              <a:srgbClr val="5B6B8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0268712" y="2830068"/>
            <a:ext cx="585216" cy="20116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5870448" y="4389120"/>
            <a:ext cx="-914400" cy="320040"/>
          </a:xfrm>
          <a:prstGeom prst="line">
            <a:avLst/>
          </a:prstGeom>
          <a:noFill/>
          <a:ln w="13970">
            <a:solidFill>
              <a:srgbClr val="5B6B8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120640" y="4430268"/>
            <a:ext cx="585216" cy="20116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N:1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8110728" y="4389120"/>
            <a:ext cx="-411480" cy="320040"/>
          </a:xfrm>
          <a:prstGeom prst="line">
            <a:avLst/>
          </a:prstGeom>
          <a:noFill/>
          <a:ln w="13970">
            <a:solidFill>
              <a:srgbClr val="5B6B85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612380" y="4430268"/>
            <a:ext cx="585216" cy="20116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457200" y="4709160"/>
            <a:ext cx="2880360" cy="1280160"/>
          </a:xfrm>
          <a:prstGeom prst="roundRect">
            <a:avLst>
              <a:gd name="adj" fmla="val 5000"/>
            </a:avLst>
          </a:prstGeom>
          <a:solidFill>
            <a:srgbClr val="EAF0FB"/>
          </a:solidFill>
          <a:ln/>
        </p:spPr>
      </p:sp>
      <p:sp>
        <p:nvSpPr>
          <p:cNvPr id="71" name="Text 69"/>
          <p:cNvSpPr/>
          <p:nvPr/>
        </p:nvSpPr>
        <p:spPr>
          <a:xfrm>
            <a:off x="658368" y="4855464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EventLogs.parent_event_id references EventLogs.event_id — one row can point to the row that spawned it, enabling process-lineage trees.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Trace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280160"/>
            <a:ext cx="12191695" cy="0"/>
          </a:xfrm>
          <a:prstGeom prst="line">
            <a:avLst/>
          </a:prstGeom>
          <a:noFill/>
          <a:ln w="12700">
            <a:solidFill>
              <a:srgbClr val="1329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468880"/>
            <a:ext cx="12191695" cy="0"/>
          </a:xfrm>
          <a:prstGeom prst="line">
            <a:avLst/>
          </a:prstGeom>
          <a:noFill/>
          <a:ln w="12700">
            <a:solidFill>
              <a:srgbClr val="13294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657600"/>
            <a:ext cx="12191695" cy="0"/>
          </a:xfrm>
          <a:prstGeom prst="line">
            <a:avLst/>
          </a:prstGeom>
          <a:noFill/>
          <a:ln w="12700">
            <a:solidFill>
              <a:srgbClr val="1329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846320"/>
            <a:ext cx="12191695" cy="0"/>
          </a:xfrm>
          <a:prstGeom prst="line">
            <a:avLst/>
          </a:prstGeom>
          <a:noFill/>
          <a:ln w="12700">
            <a:solidFill>
              <a:srgbClr val="13294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035040"/>
            <a:ext cx="12191695" cy="0"/>
          </a:xfrm>
          <a:prstGeom prst="line">
            <a:avLst/>
          </a:prstGeom>
          <a:noFill/>
          <a:ln w="12700">
            <a:solidFill>
              <a:srgbClr val="13294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592928" y="2103120"/>
            <a:ext cx="1005840" cy="1005840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8" name="Text 6"/>
          <p:cNvSpPr/>
          <p:nvPr/>
        </p:nvSpPr>
        <p:spPr>
          <a:xfrm>
            <a:off x="5592928" y="21031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0" y="3337560"/>
            <a:ext cx="12191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0" y="425196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0" y="48920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Trace  —  Advanced Programming &amp; DBMS Project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Trace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2026-08-19T07:41:12Z</dcterms:created>
  <dcterms:modified xsi:type="dcterms:W3CDTF">2026-08-19T07:41:12Z</dcterms:modified>
</cp:coreProperties>
</file>